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7771E0-8132-4435-8B4D-BA4190897CC1}">
  <a:tblStyle styleId="{4C7771E0-8132-4435-8B4D-BA4190897C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2aa03752d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a2aa03752d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2aa03752d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a2aa03752d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2aa03752d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a2aa03752d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2aa03752d_1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a2aa03752d_1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2aa03752d_1_2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a2aa03752d_1_2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2aa03752d_1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a2aa03752d_1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2aa03752d_1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a2aa03752d_1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2aa03752d_1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3a2aa03752d_1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2aa03752d_1_1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g3a2aa03752d_1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2aa03752d_1_1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a2aa03752d_1_1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2aa03752d_1_2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a2aa03752d_1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2aa03752d_1_2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g3a2aa03752d_1_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2aa03752d_1_2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g3a2aa03752d_1_2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723795"/>
            <a:ext cx="9144000" cy="85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-11587" y="4711049"/>
            <a:ext cx="9144000" cy="444600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791513" y="1061175"/>
            <a:ext cx="75984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Lung Cancer Diagnosis with Data Fusion and Mobile Edge Computing using DenseNet and CNN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50" y="7970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7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Cloud Computing</a:t>
            </a:r>
            <a:endParaRPr b="1" i="0" sz="27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1417913" y="4719881"/>
            <a:ext cx="6324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Jagannath University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5" name="Google Shape;135;p25"/>
          <p:cNvGraphicFramePr/>
          <p:nvPr/>
        </p:nvGraphicFramePr>
        <p:xfrm>
          <a:off x="1076306" y="2744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{4C7771E0-8132-4435-8B4D-BA4190897CC1}</a:tableStyleId>
              </a:tblPr>
              <a:tblGrid>
                <a:gridCol w="1899200"/>
                <a:gridCol w="1303300"/>
              </a:tblGrid>
              <a:tr h="193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Student's Name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76200" marL="76200" anchor="ctr">
                    <a:lnL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Student's ID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76200" marL="76200" anchor="ctr">
                    <a:lnL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Md. Romzan Alom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76200" marL="76200" anchor="ctr">
                    <a:lnL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M250205010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76200" marL="76200" anchor="ctr">
                    <a:lnL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Md Ashiqur Rahman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76200" marL="76200" anchor="ctr">
                    <a:lnL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M250205011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76200" marL="76200" anchor="ctr">
                    <a:lnL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Saddam Hossen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76200" marL="76200" anchor="ctr">
                    <a:lnL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M250205027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76200" marL="76200" anchor="ctr">
                    <a:lnL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Abu Salah Musha Lemon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76200" marL="76200" anchor="ctr">
                    <a:lnL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M250205039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76200" marL="76200" anchor="ctr">
                    <a:lnL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Md. Hasan Mia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76200" marL="76200" anchor="ctr">
                    <a:lnL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M250205025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76200" marL="76200" anchor="ctr">
                    <a:lnL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25"/>
          <p:cNvSpPr txBox="1"/>
          <p:nvPr/>
        </p:nvSpPr>
        <p:spPr>
          <a:xfrm>
            <a:off x="907894" y="219032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167" y="39825"/>
            <a:ext cx="683709" cy="6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">
            <a:off x="69833" y="39825"/>
            <a:ext cx="669098" cy="63382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 txBox="1"/>
          <p:nvPr/>
        </p:nvSpPr>
        <p:spPr>
          <a:xfrm>
            <a:off x="18725" y="4336113"/>
            <a:ext cx="914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 (CSE)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0" name="Google Shape;140;p25"/>
          <p:cNvGraphicFramePr/>
          <p:nvPr/>
        </p:nvGraphicFramePr>
        <p:xfrm>
          <a:off x="5426814" y="2744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{4C7771E0-8132-4435-8B4D-BA4190897CC1}</a:tableStyleId>
              </a:tblPr>
              <a:tblGrid>
                <a:gridCol w="1658450"/>
                <a:gridCol w="1138075"/>
              </a:tblGrid>
              <a:tr h="193550">
                <a:tc gridSpan="2"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Dr. Md. Abu Layek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Professor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Department of CSE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76200" marL="76200" anchor="ctr">
                    <a:lnL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 hMerge="1"/>
              </a:tr>
              <a:tr h="193550">
                <a:tc gridSpan="2" vMerge="1"/>
                <a:tc hMerge="1" vMerge="1"/>
              </a:tr>
              <a:tr h="193550">
                <a:tc gridSpan="2" vMerge="1"/>
                <a:tc hMerge="1" vMerge="1"/>
              </a:tr>
            </a:tbl>
          </a:graphicData>
        </a:graphic>
      </p:graphicFrame>
      <p:sp>
        <p:nvSpPr>
          <p:cNvPr id="141" name="Google Shape;141;p25"/>
          <p:cNvSpPr txBox="1"/>
          <p:nvPr/>
        </p:nvSpPr>
        <p:spPr>
          <a:xfrm>
            <a:off x="5398109" y="219025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Presented To: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5072275" y="36300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Group Name: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Cloud Station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Group No: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08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5"/>
          <p:cNvSpPr txBox="1"/>
          <p:nvPr>
            <p:ph idx="12" type="sldNum"/>
          </p:nvPr>
        </p:nvSpPr>
        <p:spPr>
          <a:xfrm>
            <a:off x="0" y="47610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 November 2025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/>
          <p:nvPr/>
        </p:nvSpPr>
        <p:spPr>
          <a:xfrm>
            <a:off x="0" y="723795"/>
            <a:ext cx="9144000" cy="85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6"/>
          <p:cNvSpPr/>
          <p:nvPr/>
        </p:nvSpPr>
        <p:spPr>
          <a:xfrm>
            <a:off x="-11587" y="4711049"/>
            <a:ext cx="9144000" cy="444600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50" y="7970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7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b="1" sz="27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167" y="39825"/>
            <a:ext cx="683709" cy="6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">
            <a:off x="69833" y="39825"/>
            <a:ext cx="669098" cy="63382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/>
        </p:nvSpPr>
        <p:spPr>
          <a:xfrm>
            <a:off x="1417913" y="4789013"/>
            <a:ext cx="6324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Lung Cancer Diagnosis with Data Fusion and Mobile Edge Computing using DenseNet and CNN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889650" y="1105500"/>
            <a:ext cx="7625700" cy="3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Times New Roman"/>
              <a:buChar char="➢"/>
            </a:pPr>
            <a:r>
              <a:rPr b="0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Times New Roman"/>
              <a:buChar char="➢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Times New Roman"/>
              <a:buChar char="➢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Times New Roman"/>
              <a:buChar char="➢"/>
            </a:pPr>
            <a:r>
              <a:rPr b="0" i="0" lang="en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Analysis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Times New Roman"/>
              <a:buChar char="➢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Times New Roman"/>
              <a:buChar char="➢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to Course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Times New Roman"/>
              <a:buChar char="➢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Times New Roman"/>
              <a:buChar char="➢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and Answer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6"/>
          <p:cNvSpPr txBox="1"/>
          <p:nvPr>
            <p:ph idx="12" type="sldNum"/>
          </p:nvPr>
        </p:nvSpPr>
        <p:spPr>
          <a:xfrm>
            <a:off x="0" y="47610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Romzan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/>
          <p:nvPr/>
        </p:nvSpPr>
        <p:spPr>
          <a:xfrm>
            <a:off x="0" y="723795"/>
            <a:ext cx="9144000" cy="85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-11587" y="4711049"/>
            <a:ext cx="9144000" cy="444600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50" y="7970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7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(1/2)</a:t>
            </a:r>
            <a:endParaRPr b="1" i="0" sz="27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167" y="39825"/>
            <a:ext cx="683709" cy="6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">
            <a:off x="69833" y="39825"/>
            <a:ext cx="669098" cy="63382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 txBox="1"/>
          <p:nvPr/>
        </p:nvSpPr>
        <p:spPr>
          <a:xfrm>
            <a:off x="1417913" y="4789013"/>
            <a:ext cx="6324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Lung Cancer Diagnosis with Data Fusion and Mobile Edge Computing using DenseNet and CNN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635000" y="1084150"/>
            <a:ext cx="7798800" cy="3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Paper Authors: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Chengping Zhang, Muhammad Aamir, Yurong Guan, Muna Al‑Razgan, Emad Mahrous Awwad, Rizwan Ullah, Uzair Aslam Bhatti and Yazeed Yasin Ghadi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Journal Name: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Journal of Cloud Computing: Advances, Systems and Applications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Index: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Science Citation Index Expanded (SCIE)  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Quartile: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Q1  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Impact Factor: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4.3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Summary of this paper: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Zhang et al. [1] proposed a DenseNet-CNN system with data fusion and mobile edge computing for lung cancer diagnosis from CT scans. The method enhances feature extraction and real-time processing, achieving 99% accuracy on classification tasks. Despite strong performance, its limitations include dependency on large annotated datasets, limited interpretability, and reduced generalizability across diverse populations and imaging devices.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7"/>
          <p:cNvSpPr txBox="1"/>
          <p:nvPr>
            <p:ph idx="12" type="sldNum"/>
          </p:nvPr>
        </p:nvSpPr>
        <p:spPr>
          <a:xfrm>
            <a:off x="0" y="47610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Romzan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/>
        </p:nvSpPr>
        <p:spPr>
          <a:xfrm>
            <a:off x="0" y="723795"/>
            <a:ext cx="9144000" cy="85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8"/>
          <p:cNvSpPr/>
          <p:nvPr/>
        </p:nvSpPr>
        <p:spPr>
          <a:xfrm>
            <a:off x="-11587" y="4711049"/>
            <a:ext cx="9144000" cy="444600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50" y="7970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7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(2/2)</a:t>
            </a:r>
            <a:endParaRPr b="1" i="0" sz="27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167" y="39825"/>
            <a:ext cx="683709" cy="6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">
            <a:off x="69833" y="39825"/>
            <a:ext cx="669098" cy="63382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8"/>
          <p:cNvSpPr txBox="1"/>
          <p:nvPr/>
        </p:nvSpPr>
        <p:spPr>
          <a:xfrm>
            <a:off x="1417913" y="4789013"/>
            <a:ext cx="6324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Lung Cancer Diagnosis with Data Fusion and Mobile Edge Computing using DenseNet and CNN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666675" y="1156850"/>
            <a:ext cx="7625700" cy="2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21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Lung cancer remains a leading global health issue causing millions of deaths annually.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detection significantly improves survival, but most cases are diagnosed at advanced stages.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Low-dose CT imaging enables accurate early detection and reduces lung cancer mortality rates.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lung cancer cases are preventable, primarily linked to smoking and environmental factors.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learning, especially CNNs, enhances CT image analysis and early cancer diagnosis accuracy.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2" name="Google Shape;182;p28"/>
          <p:cNvPicPr preferRelativeResize="0"/>
          <p:nvPr/>
        </p:nvPicPr>
        <p:blipFill rotWithShape="1">
          <a:blip r:embed="rId5">
            <a:alphaModFix/>
          </a:blip>
          <a:srcRect b="4807" l="0" r="0" t="0"/>
          <a:stretch/>
        </p:blipFill>
        <p:spPr>
          <a:xfrm>
            <a:off x="3161125" y="2766825"/>
            <a:ext cx="2798600" cy="18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 txBox="1"/>
          <p:nvPr>
            <p:ph idx="12" type="sldNum"/>
          </p:nvPr>
        </p:nvSpPr>
        <p:spPr>
          <a:xfrm>
            <a:off x="0" y="47610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Ashiqur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/>
          <p:nvPr/>
        </p:nvSpPr>
        <p:spPr>
          <a:xfrm>
            <a:off x="0" y="723795"/>
            <a:ext cx="9144000" cy="85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9"/>
          <p:cNvSpPr/>
          <p:nvPr/>
        </p:nvSpPr>
        <p:spPr>
          <a:xfrm>
            <a:off x="-11587" y="4711049"/>
            <a:ext cx="9144000" cy="444600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50" y="7970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7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b="1" sz="27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" name="Google Shape;19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167" y="39825"/>
            <a:ext cx="683709" cy="6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">
            <a:off x="69833" y="39825"/>
            <a:ext cx="669098" cy="63382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9"/>
          <p:cNvSpPr txBox="1"/>
          <p:nvPr/>
        </p:nvSpPr>
        <p:spPr>
          <a:xfrm>
            <a:off x="1417913" y="4789013"/>
            <a:ext cx="6324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Lung Cancer Diagnosis with Data Fusion and Mobile Edge Computing using DenseNet and CNN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666675" y="1156850"/>
            <a:ext cx="7717500" cy="3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Innovative deep learning strategies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Combining knowledge‑based systems and machine learning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Exploring DenseNet and multiple view‑based models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Region‑based CNNs and deep reinforcement learning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3D CNNs and ANN‑based models for enhanced sensitivity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MLP and automated approaches for comprehensive analysis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learning and specialized CNN models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Diverse techniques for NSCLC and histopathology analysis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models and data integration for early detection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Emerging trends and future directions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9"/>
          <p:cNvSpPr txBox="1"/>
          <p:nvPr>
            <p:ph idx="12" type="sldNum"/>
          </p:nvPr>
        </p:nvSpPr>
        <p:spPr>
          <a:xfrm>
            <a:off x="0" y="47610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Ashiqur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/>
          <p:nvPr/>
        </p:nvSpPr>
        <p:spPr>
          <a:xfrm>
            <a:off x="0" y="723795"/>
            <a:ext cx="9144000" cy="85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0"/>
          <p:cNvSpPr/>
          <p:nvPr/>
        </p:nvSpPr>
        <p:spPr>
          <a:xfrm>
            <a:off x="-11587" y="4711049"/>
            <a:ext cx="9144000" cy="444600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0"/>
          <p:cNvSpPr txBox="1"/>
          <p:nvPr/>
        </p:nvSpPr>
        <p:spPr>
          <a:xfrm>
            <a:off x="50" y="7970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7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b="1" i="0" sz="27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167" y="39825"/>
            <a:ext cx="683709" cy="6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">
            <a:off x="69833" y="39825"/>
            <a:ext cx="669098" cy="63382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417913" y="4789013"/>
            <a:ext cx="6324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Lung Cancer Diagnosis with Data Fusion and Mobile Edge Computing using DenseNet and CNN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30"/>
          <p:cNvPicPr preferRelativeResize="0"/>
          <p:nvPr/>
        </p:nvPicPr>
        <p:blipFill rotWithShape="1">
          <a:blip r:embed="rId5">
            <a:alphaModFix/>
          </a:blip>
          <a:srcRect b="2257" l="0" r="0" t="0"/>
          <a:stretch/>
        </p:blipFill>
        <p:spPr>
          <a:xfrm>
            <a:off x="4913050" y="939375"/>
            <a:ext cx="2945226" cy="3544087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0"/>
          <p:cNvSpPr txBox="1"/>
          <p:nvPr/>
        </p:nvSpPr>
        <p:spPr>
          <a:xfrm>
            <a:off x="1078325" y="1251325"/>
            <a:ext cx="3000000" cy="28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Times New Roman"/>
              <a:buChar char="➢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Times New Roman"/>
              <a:buChar char="➢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Times New Roman"/>
              <a:buChar char="➢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Densenet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Times New Roman"/>
              <a:buChar char="➢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Times New Roman"/>
              <a:buChar char="➢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Extraction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Times New Roman"/>
              <a:buChar char="➢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Times New Roman"/>
              <a:buChar char="➢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0"/>
          <p:cNvSpPr txBox="1"/>
          <p:nvPr>
            <p:ph idx="12" type="sldNum"/>
          </p:nvPr>
        </p:nvSpPr>
        <p:spPr>
          <a:xfrm>
            <a:off x="0" y="47610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Saddam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/>
          <p:nvPr/>
        </p:nvSpPr>
        <p:spPr>
          <a:xfrm>
            <a:off x="0" y="723795"/>
            <a:ext cx="9144000" cy="85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1"/>
          <p:cNvSpPr/>
          <p:nvPr/>
        </p:nvSpPr>
        <p:spPr>
          <a:xfrm>
            <a:off x="-11587" y="4711049"/>
            <a:ext cx="9144000" cy="444600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50" y="7970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7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Analysis</a:t>
            </a:r>
            <a:endParaRPr b="1" i="0" sz="27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9" name="Google Shape;21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167" y="39825"/>
            <a:ext cx="683709" cy="6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">
            <a:off x="69833" y="39825"/>
            <a:ext cx="669098" cy="63382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/>
          <p:nvPr/>
        </p:nvSpPr>
        <p:spPr>
          <a:xfrm>
            <a:off x="1417913" y="4789013"/>
            <a:ext cx="6324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Lung Cancer Diagnosis with Data Fusion and Mobile Edge Computing using DenseNet and CNN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2" name="Google Shape;22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523" y="2075625"/>
            <a:ext cx="3723400" cy="12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3073" y="961995"/>
            <a:ext cx="4275435" cy="359665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1"/>
          <p:cNvSpPr txBox="1"/>
          <p:nvPr>
            <p:ph idx="12" type="sldNum"/>
          </p:nvPr>
        </p:nvSpPr>
        <p:spPr>
          <a:xfrm>
            <a:off x="0" y="47610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Lemon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/>
          <p:nvPr/>
        </p:nvSpPr>
        <p:spPr>
          <a:xfrm>
            <a:off x="0" y="723795"/>
            <a:ext cx="9144000" cy="85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2"/>
          <p:cNvSpPr/>
          <p:nvPr/>
        </p:nvSpPr>
        <p:spPr>
          <a:xfrm>
            <a:off x="-11587" y="4711049"/>
            <a:ext cx="9144000" cy="444600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2"/>
          <p:cNvSpPr txBox="1"/>
          <p:nvPr/>
        </p:nvSpPr>
        <p:spPr>
          <a:xfrm>
            <a:off x="50" y="7970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7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(1/3)</a:t>
            </a:r>
            <a:endParaRPr b="1" i="0" sz="27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3" name="Google Shape;23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167" y="39825"/>
            <a:ext cx="683709" cy="6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">
            <a:off x="69833" y="39825"/>
            <a:ext cx="669098" cy="6338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2"/>
          <p:cNvSpPr txBox="1"/>
          <p:nvPr/>
        </p:nvSpPr>
        <p:spPr>
          <a:xfrm>
            <a:off x="1417913" y="4789013"/>
            <a:ext cx="6324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Lung Cancer Diagnosis with Data Fusion and Mobile Edge Computing using DenseNet and CNN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32"/>
          <p:cNvSpPr txBox="1"/>
          <p:nvPr/>
        </p:nvSpPr>
        <p:spPr>
          <a:xfrm>
            <a:off x="668675" y="1290825"/>
            <a:ext cx="64581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Summary: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lang="en"/>
              <a:t>CNNs excel in lung cancer CT image analysis</a:t>
            </a:r>
            <a:endParaRPr/>
          </a:p>
          <a:p>
            <a:pPr indent="-317500" lvl="0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lang="en"/>
              <a:t>DenseNet121 improves feature extraction and accuracy</a:t>
            </a:r>
            <a:endParaRPr/>
          </a:p>
          <a:p>
            <a:pPr indent="-317500" lvl="0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lang="en"/>
              <a:t>Strong gradient flow enhances deep model training</a:t>
            </a:r>
            <a:endParaRPr/>
          </a:p>
          <a:p>
            <a:pPr indent="-317500" lvl="0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lang="en"/>
              <a:t>Reduces overfitting with efficient parameter usage</a:t>
            </a:r>
            <a:endParaRPr/>
          </a:p>
          <a:p>
            <a:pPr indent="-317500" lvl="0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lang="en"/>
              <a:t>High accuracy and faster performance in detection</a:t>
            </a:r>
            <a:endParaRPr/>
          </a:p>
        </p:txBody>
      </p:sp>
      <p:sp>
        <p:nvSpPr>
          <p:cNvPr id="237" name="Google Shape;237;p32"/>
          <p:cNvSpPr txBox="1"/>
          <p:nvPr>
            <p:ph idx="12" type="sldNum"/>
          </p:nvPr>
        </p:nvSpPr>
        <p:spPr>
          <a:xfrm>
            <a:off x="0" y="47610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Hasan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/>
          <p:nvPr/>
        </p:nvSpPr>
        <p:spPr>
          <a:xfrm>
            <a:off x="0" y="723795"/>
            <a:ext cx="9144000" cy="85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3"/>
          <p:cNvSpPr/>
          <p:nvPr/>
        </p:nvSpPr>
        <p:spPr>
          <a:xfrm>
            <a:off x="-11587" y="4711049"/>
            <a:ext cx="9144000" cy="444600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3"/>
          <p:cNvSpPr txBox="1"/>
          <p:nvPr/>
        </p:nvSpPr>
        <p:spPr>
          <a:xfrm>
            <a:off x="50" y="7970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7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(2/3)</a:t>
            </a:r>
            <a:endParaRPr b="1" i="0" sz="27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6" name="Google Shape;24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167" y="39825"/>
            <a:ext cx="683709" cy="6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">
            <a:off x="69833" y="39825"/>
            <a:ext cx="669098" cy="63382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3"/>
          <p:cNvSpPr txBox="1"/>
          <p:nvPr/>
        </p:nvSpPr>
        <p:spPr>
          <a:xfrm>
            <a:off x="1417913" y="4789013"/>
            <a:ext cx="6324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Lung Cancer Diagnosis with Data Fusion and Mobile Edge Computing using DenseNet and CNN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33"/>
          <p:cNvSpPr txBox="1"/>
          <p:nvPr/>
        </p:nvSpPr>
        <p:spPr>
          <a:xfrm>
            <a:off x="668675" y="1290825"/>
            <a:ext cx="64581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Limitations</a:t>
            </a:r>
            <a:r>
              <a:rPr b="1" lang="en" sz="1600"/>
              <a:t>: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lang="en"/>
              <a:t>Limited availability of labeled medical datasets</a:t>
            </a:r>
            <a:endParaRPr/>
          </a:p>
          <a:p>
            <a:pPr indent="-317500" lvl="0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lang="en"/>
              <a:t>Image quality variations affect performance</a:t>
            </a:r>
            <a:endParaRPr/>
          </a:p>
          <a:p>
            <a:pPr indent="-317500" lvl="0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lang="en"/>
              <a:t>Requires high computational resources for training</a:t>
            </a:r>
            <a:endParaRPr/>
          </a:p>
          <a:p>
            <a:pPr indent="-317500" lvl="0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lang="en"/>
              <a:t>Generalization across scanners and populations is difficult</a:t>
            </a:r>
            <a:endParaRPr/>
          </a:p>
          <a:p>
            <a:pPr indent="-317500" lvl="0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lang="en"/>
              <a:t>Limited interpretability for clinical decision-making</a:t>
            </a:r>
            <a:endParaRPr/>
          </a:p>
        </p:txBody>
      </p:sp>
      <p:sp>
        <p:nvSpPr>
          <p:cNvPr id="250" name="Google Shape;250;p33"/>
          <p:cNvSpPr txBox="1"/>
          <p:nvPr>
            <p:ph idx="12" type="sldNum"/>
          </p:nvPr>
        </p:nvSpPr>
        <p:spPr>
          <a:xfrm>
            <a:off x="0" y="47610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Hasan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/>
          <p:nvPr/>
        </p:nvSpPr>
        <p:spPr>
          <a:xfrm>
            <a:off x="0" y="723795"/>
            <a:ext cx="9144000" cy="85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4"/>
          <p:cNvSpPr/>
          <p:nvPr/>
        </p:nvSpPr>
        <p:spPr>
          <a:xfrm>
            <a:off x="-11587" y="4711049"/>
            <a:ext cx="9144000" cy="444600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4"/>
          <p:cNvSpPr txBox="1"/>
          <p:nvPr/>
        </p:nvSpPr>
        <p:spPr>
          <a:xfrm>
            <a:off x="50" y="7970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7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(3/3)</a:t>
            </a:r>
            <a:endParaRPr b="1" i="0" sz="27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9" name="Google Shape;25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167" y="39825"/>
            <a:ext cx="683709" cy="6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">
            <a:off x="69833" y="39825"/>
            <a:ext cx="669098" cy="63382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4"/>
          <p:cNvSpPr txBox="1"/>
          <p:nvPr/>
        </p:nvSpPr>
        <p:spPr>
          <a:xfrm>
            <a:off x="1417913" y="4789013"/>
            <a:ext cx="6324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Lung Cancer Diagnosis with Data Fusion and Mobile Edge Computing using DenseNet and CNN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668675" y="1290825"/>
            <a:ext cx="64581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Future Work</a:t>
            </a:r>
            <a:r>
              <a:rPr b="1" lang="en" sz="1600"/>
              <a:t>: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lang="en"/>
              <a:t>Expand datasets with diverse CT images</a:t>
            </a:r>
            <a:endParaRPr/>
          </a:p>
          <a:p>
            <a:pPr indent="-317500" lvl="0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lang="en"/>
              <a:t>Develop hybrid and ensemble deep models</a:t>
            </a:r>
            <a:endParaRPr/>
          </a:p>
          <a:p>
            <a:pPr indent="-317500" lvl="0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lang="en"/>
              <a:t>Integrate explainable AI for clinical trust</a:t>
            </a:r>
            <a:endParaRPr/>
          </a:p>
          <a:p>
            <a:pPr indent="-317500" lvl="0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lang="en"/>
              <a:t>Optimize models for real-time hospital deployment</a:t>
            </a:r>
            <a:endParaRPr/>
          </a:p>
          <a:p>
            <a:pPr indent="-317500" lvl="0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lang="en"/>
              <a:t>Validate performance through clinical collaborations</a:t>
            </a:r>
            <a:endParaRPr/>
          </a:p>
        </p:txBody>
      </p:sp>
      <p:sp>
        <p:nvSpPr>
          <p:cNvPr id="263" name="Google Shape;263;p34"/>
          <p:cNvSpPr txBox="1"/>
          <p:nvPr>
            <p:ph idx="12" type="sldNum"/>
          </p:nvPr>
        </p:nvSpPr>
        <p:spPr>
          <a:xfrm>
            <a:off x="0" y="47610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Hasan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/>
          <p:nvPr/>
        </p:nvSpPr>
        <p:spPr>
          <a:xfrm>
            <a:off x="0" y="723795"/>
            <a:ext cx="9144000" cy="85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-11587" y="4711049"/>
            <a:ext cx="9144000" cy="444600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50" y="7970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7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to Course</a:t>
            </a:r>
            <a:endParaRPr b="1" i="0" sz="27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2" name="Google Shape;27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167" y="39825"/>
            <a:ext cx="683709" cy="6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">
            <a:off x="69833" y="39825"/>
            <a:ext cx="669098" cy="63382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5"/>
          <p:cNvSpPr txBox="1"/>
          <p:nvPr/>
        </p:nvSpPr>
        <p:spPr>
          <a:xfrm>
            <a:off x="1417913" y="4789013"/>
            <a:ext cx="6324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Lung Cancer Diagnosis with Data Fusion and Mobile Edge Computing using DenseNet and CNN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35"/>
          <p:cNvSpPr txBox="1"/>
          <p:nvPr/>
        </p:nvSpPr>
        <p:spPr>
          <a:xfrm>
            <a:off x="535375" y="1105663"/>
            <a:ext cx="78468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Mobile Edge &amp; Cloud Computing Integration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– Used MEC with cloud collaboration for real-time, low-latency medical data processing.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AI-as-a-Service (AIaaS) Deployment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– Implemented DenseNet-CNN via scalable cloud GPU infrastructure for intelligent diagnostics.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Scalability, Reliability, and Resource Optimization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– Optimizes edge-cloud resources for efficient, high-performance AI workflows.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Security, Privacy, and Compliance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– Protected sensitive medical data using edge privacy controls and secure cloud frameworks.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Char char="➢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Cloud-Based System Architecture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– Adopted layered edge-cloud-AI structure enabling distributed intelligent healthcare services.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35"/>
          <p:cNvSpPr txBox="1"/>
          <p:nvPr>
            <p:ph idx="12" type="sldNum"/>
          </p:nvPr>
        </p:nvSpPr>
        <p:spPr>
          <a:xfrm>
            <a:off x="0" y="47610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Romzan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/>
          <p:nvPr/>
        </p:nvSpPr>
        <p:spPr>
          <a:xfrm>
            <a:off x="0" y="723795"/>
            <a:ext cx="9144000" cy="85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6"/>
          <p:cNvSpPr/>
          <p:nvPr/>
        </p:nvSpPr>
        <p:spPr>
          <a:xfrm>
            <a:off x="-11587" y="4711049"/>
            <a:ext cx="9144000" cy="444600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6"/>
          <p:cNvSpPr txBox="1"/>
          <p:nvPr/>
        </p:nvSpPr>
        <p:spPr>
          <a:xfrm>
            <a:off x="50" y="7970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7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i="0" sz="27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5" name="Google Shape;28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167" y="39825"/>
            <a:ext cx="683709" cy="6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">
            <a:off x="69833" y="39825"/>
            <a:ext cx="669098" cy="63382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6"/>
          <p:cNvSpPr txBox="1"/>
          <p:nvPr/>
        </p:nvSpPr>
        <p:spPr>
          <a:xfrm>
            <a:off x="1417913" y="4789013"/>
            <a:ext cx="6324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Lung Cancer Diagnosis with Data Fusion and Mobile Edge Computing using DenseNet and CNN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36"/>
          <p:cNvSpPr txBox="1"/>
          <p:nvPr/>
        </p:nvSpPr>
        <p:spPr>
          <a:xfrm>
            <a:off x="668675" y="1290825"/>
            <a:ext cx="78468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C. Zhang, M. Aamir, Y. Guan, M. Al-Razgan, E. M. Awwad, R. Ullah, U. A. Bhatti, and Y. Y. Ghadi, "Enhancing lung cancer diagnosis with data fusion and mobile edge computing using DenseNet and CNN," </a:t>
            </a:r>
            <a:r>
              <a:rPr b="1" lang="en"/>
              <a:t>Journal of Cloud Computing: Advances, Systems and Applications</a:t>
            </a:r>
            <a:r>
              <a:rPr lang="en"/>
              <a:t>, vol. 13, no. 91, 2024. doi: 10.1186/s13677-024-00597-w.</a:t>
            </a:r>
            <a:endParaRPr/>
          </a:p>
        </p:txBody>
      </p:sp>
      <p:sp>
        <p:nvSpPr>
          <p:cNvPr id="289" name="Google Shape;289;p36"/>
          <p:cNvSpPr txBox="1"/>
          <p:nvPr>
            <p:ph idx="12" type="sldNum"/>
          </p:nvPr>
        </p:nvSpPr>
        <p:spPr>
          <a:xfrm>
            <a:off x="0" y="47610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Romzan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/>
          <p:nvPr/>
        </p:nvSpPr>
        <p:spPr>
          <a:xfrm>
            <a:off x="0" y="723795"/>
            <a:ext cx="9144000" cy="85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7"/>
          <p:cNvSpPr/>
          <p:nvPr/>
        </p:nvSpPr>
        <p:spPr>
          <a:xfrm>
            <a:off x="-11587" y="4711049"/>
            <a:ext cx="9144000" cy="444600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7"/>
          <p:cNvSpPr txBox="1"/>
          <p:nvPr/>
        </p:nvSpPr>
        <p:spPr>
          <a:xfrm>
            <a:off x="50" y="7970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7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Cloud Computing</a:t>
            </a:r>
            <a:endParaRPr b="1" i="0" sz="27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8" name="Google Shape;29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167" y="39825"/>
            <a:ext cx="683709" cy="6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">
            <a:off x="69833" y="39825"/>
            <a:ext cx="669098" cy="633824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7"/>
          <p:cNvSpPr txBox="1"/>
          <p:nvPr/>
        </p:nvSpPr>
        <p:spPr>
          <a:xfrm>
            <a:off x="1417913" y="4789013"/>
            <a:ext cx="6324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Lung Cancer Diagnosis with Data Fusion and Mobile Edge Computing using DenseNet and CNN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37"/>
          <p:cNvSpPr txBox="1"/>
          <p:nvPr>
            <p:ph type="title"/>
          </p:nvPr>
        </p:nvSpPr>
        <p:spPr>
          <a:xfrm>
            <a:off x="1531350" y="1227376"/>
            <a:ext cx="59670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Calibri"/>
              <a:buNone/>
            </a:pPr>
            <a:r>
              <a:rPr lang="en" sz="4100">
                <a:latin typeface="Arial"/>
                <a:ea typeface="Arial"/>
                <a:cs typeface="Arial"/>
                <a:sym typeface="Arial"/>
              </a:rPr>
              <a:t>Have Any Question 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7"/>
          <p:cNvSpPr txBox="1"/>
          <p:nvPr/>
        </p:nvSpPr>
        <p:spPr>
          <a:xfrm>
            <a:off x="1196381" y="2708550"/>
            <a:ext cx="64581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342900" lvl="0" marL="1028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" sz="4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THANK YOU !!</a:t>
            </a:r>
            <a:endParaRPr b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3" name="Google Shape;303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6350" y="3112842"/>
            <a:ext cx="1918100" cy="153600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7"/>
          <p:cNvSpPr txBox="1"/>
          <p:nvPr>
            <p:ph idx="12" type="sldNum"/>
          </p:nvPr>
        </p:nvSpPr>
        <p:spPr>
          <a:xfrm>
            <a:off x="0" y="47610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November 2025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